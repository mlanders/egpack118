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+l8edOKJGwP8vEuzpE5zPPRWz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bScouts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6" title="Scouting America-Logo-4c-B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745800"/>
            <a:ext cx="1910448" cy="39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">
  <p:cSld name="DEFAULT_1">
    <p:bg>
      <p:bgPr>
        <a:solidFill>
          <a:srgbClr val="003F87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g3d177434bab_0_12" title="CubScoutsLogo-FullColor-CSB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294926" y="4212801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g3d177434bab_0_12"/>
          <p:cNvSpPr txBox="1"/>
          <p:nvPr>
            <p:ph type="title"/>
          </p:nvPr>
        </p:nvSpPr>
        <p:spPr>
          <a:xfrm>
            <a:off x="1583875" y="1224650"/>
            <a:ext cx="5461800" cy="11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d177434bab_0_12"/>
          <p:cNvSpPr txBox="1"/>
          <p:nvPr>
            <p:ph idx="1" type="subTitle"/>
          </p:nvPr>
        </p:nvSpPr>
        <p:spPr>
          <a:xfrm>
            <a:off x="2926825" y="2441125"/>
            <a:ext cx="2775900" cy="61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d177434bab_0_12"/>
          <p:cNvSpPr txBox="1"/>
          <p:nvPr>
            <p:ph idx="2" type="body"/>
          </p:nvPr>
        </p:nvSpPr>
        <p:spPr>
          <a:xfrm>
            <a:off x="2004325" y="3143250"/>
            <a:ext cx="4620900" cy="7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7" name="Google Shape;17;g3d177434bab_0_12" title="Fleur-de-lis-2024-logo-4c-B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98" y="119725"/>
            <a:ext cx="1412975" cy="1488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dventure">
  <p:cSld name="CUSTOM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g3d177434bab_0_1" title="Folio_4K-boys-Logo-BC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107650"/>
            <a:ext cx="9144003" cy="103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F87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0" y="3639312"/>
            <a:ext cx="9144000" cy="128016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 txBox="1"/>
          <p:nvPr>
            <p:ph type="title"/>
          </p:nvPr>
        </p:nvSpPr>
        <p:spPr>
          <a:xfrm>
            <a:off x="1583875" y="1241550"/>
            <a:ext cx="6253800" cy="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Trebuchet MS"/>
                <a:ea typeface="Trebuchet MS"/>
                <a:cs typeface="Trebuchet MS"/>
                <a:sym typeface="Trebuchet MS"/>
              </a:rPr>
              <a:t>New Cub Parent Orientation</a:t>
            </a:r>
            <a:endParaRPr/>
          </a:p>
        </p:txBody>
      </p:sp>
      <p:sp>
        <p:nvSpPr>
          <p:cNvPr id="29" name="Google Shape;29;p1"/>
          <p:cNvSpPr txBox="1"/>
          <p:nvPr>
            <p:ph idx="1" type="subTitle"/>
          </p:nvPr>
        </p:nvSpPr>
        <p:spPr>
          <a:xfrm>
            <a:off x="2362800" y="2221250"/>
            <a:ext cx="3903900" cy="8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2000"/>
              <a:buFont typeface="Calibri"/>
              <a:buNone/>
            </a:pPr>
            <a:r>
              <a:rPr lang="en-US" sz="2000">
                <a:solidFill>
                  <a:srgbClr val="FDB827"/>
                </a:solidFill>
                <a:latin typeface="Calibri"/>
                <a:ea typeface="Calibri"/>
                <a:cs typeface="Calibri"/>
                <a:sym typeface="Calibri"/>
              </a:rPr>
              <a:t>Engage, Include &amp; Empower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>
                <a:solidFill>
                  <a:srgbClr val="FDB827"/>
                </a:solidFill>
                <a:latin typeface="Calibri"/>
                <a:ea typeface="Calibri"/>
                <a:cs typeface="Calibri"/>
                <a:sym typeface="Calibri"/>
              </a:rPr>
              <a:t>New Scout Families in Your Pack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 txBox="1"/>
          <p:nvPr>
            <p:ph idx="2" type="body"/>
          </p:nvPr>
        </p:nvSpPr>
        <p:spPr>
          <a:xfrm>
            <a:off x="2004325" y="3143250"/>
            <a:ext cx="5124000" cy="7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AABDDD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AABDDD"/>
                </a:solidFill>
                <a:latin typeface="Calibri"/>
                <a:ea typeface="Calibri"/>
                <a:cs typeface="Calibri"/>
                <a:sym typeface="Calibri"/>
              </a:rPr>
              <a:t>How to engage, include, and encourage participation by new families in your unit —utilizing their skills to make your pack program more creative and functional.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THE OPPORTUNITY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" name="Google Shape;38;p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2"/>
          <p:cNvSpPr/>
          <p:nvPr/>
        </p:nvSpPr>
        <p:spPr>
          <a:xfrm>
            <a:off x="365760" y="73152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New Families Are Your Greatest Resource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20040" y="1463040"/>
            <a:ext cx="3886200" cy="3337560"/>
          </a:xfrm>
          <a:prstGeom prst="rect">
            <a:avLst/>
          </a:prstGeom>
          <a:solidFill>
            <a:srgbClr val="E8F1FB"/>
          </a:solidFill>
          <a:ln cap="flat" cmpd="sng" w="12700">
            <a:solidFill>
              <a:srgbClr val="E8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20040" y="1463040"/>
            <a:ext cx="3886200" cy="475488"/>
          </a:xfrm>
          <a:prstGeom prst="rect">
            <a:avLst/>
          </a:prstGeom>
          <a:solidFill>
            <a:srgbClr val="1A5CA8"/>
          </a:solidFill>
          <a:ln cap="flat" cmpd="sng" w="12700">
            <a:solidFill>
              <a:srgbClr val="1A5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411480" y="1527048"/>
            <a:ext cx="370332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Common Mistake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57200" y="2011680"/>
            <a:ext cx="36118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Treat new parents as observers.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Assign only simple tasks (bring snacks, drive carpool).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Overwhelm them with information without connection.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Leave them feeling like outsiders.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480560" y="1463040"/>
            <a:ext cx="4343400" cy="333756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F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480560" y="1463040"/>
            <a:ext cx="4343400" cy="475488"/>
          </a:xfrm>
          <a:prstGeom prst="rect">
            <a:avLst/>
          </a:prstGeom>
          <a:solidFill>
            <a:srgbClr val="C98A00"/>
          </a:solidFill>
          <a:ln cap="flat" cmpd="sng" w="12700">
            <a:solidFill>
              <a:srgbClr val="C9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572000" y="1527048"/>
            <a:ext cx="411480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Better Approach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617720" y="2011680"/>
            <a:ext cx="406908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Discover each family's unique skills and interests.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Match talents to program needs from day 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Build genuine belonging, not just membership.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Transform families into pack champions.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FIRST IMPRESSIONS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5" name="Google Shape;55;p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3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3000"/>
              <a:buFont typeface="Trebuchet MS"/>
              <a:buNone/>
            </a:pPr>
            <a:r>
              <a:rPr b="1" i="0" lang="en-US" sz="30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Make the First Contact Count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274320" y="155448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274320" y="1554480"/>
            <a:ext cx="2103120" cy="10972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274320" y="17373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1A5CA8"/>
                </a:solidFill>
                <a:latin typeface="Trebuchet MS"/>
                <a:ea typeface="Trebuchet MS"/>
                <a:cs typeface="Trebuchet MS"/>
                <a:sym typeface="Trebuchet MS"/>
              </a:rPr>
              <a:t>★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65760" y="22402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Before They Arrive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2788920"/>
            <a:ext cx="1920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Assign a "New Family Guide" — a current parent who reaches out personally. Send a warm welcome note. Share what to expect.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606040" y="155448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2606040" y="1554480"/>
            <a:ext cx="2103120" cy="10972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2606040" y="17373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1A5CA8"/>
                </a:solidFill>
                <a:latin typeface="Trebuchet MS"/>
                <a:ea typeface="Trebuchet MS"/>
                <a:cs typeface="Trebuchet MS"/>
                <a:sym typeface="Trebuchet MS"/>
              </a:rPr>
              <a:t>✦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697480" y="22402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At the First Meeting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697480" y="2788920"/>
            <a:ext cx="1920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Introduce them to leadership AND other families. Give them a tour. Name tags for everyone. Never let them stand alone.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937760" y="155448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937760" y="1554480"/>
            <a:ext cx="2103120" cy="10972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4937760" y="17373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1A5CA8"/>
                </a:solidFill>
                <a:latin typeface="Trebuchet MS"/>
                <a:ea typeface="Trebuchet MS"/>
                <a:cs typeface="Trebuchet MS"/>
                <a:sym typeface="Trebuchet MS"/>
              </a:rPr>
              <a:t>◆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5029200" y="22402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The Skills 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29200" y="2788920"/>
            <a:ext cx="1920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Ask open questions: What do you do professionally? What are your hobbies? What do your kids love to do?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269480" y="1554480"/>
            <a:ext cx="210312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269480" y="1554480"/>
            <a:ext cx="2103120" cy="10972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269480" y="173736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2400"/>
              <a:buFont typeface="Trebuchet MS"/>
              <a:buNone/>
            </a:pPr>
            <a:r>
              <a:rPr b="0" i="0" lang="en-US" sz="2400" u="none" cap="none" strike="noStrike">
                <a:solidFill>
                  <a:srgbClr val="1A5CA8"/>
                </a:solidFill>
                <a:latin typeface="Trebuchet MS"/>
                <a:ea typeface="Trebuchet MS"/>
                <a:cs typeface="Trebuchet MS"/>
                <a:sym typeface="Trebuchet MS"/>
              </a:rPr>
              <a:t>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7360920" y="224028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Follow Up Fast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7360920" y="2788920"/>
            <a:ext cx="19202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Contact within 48 hours. Share one specific way their skills could help. Make them feel already valuable.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SKILLS INVENTORY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4" name="Google Shape;84;p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4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Discover What Your New Families Bring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20040" y="1508760"/>
            <a:ext cx="4114800" cy="3246120"/>
          </a:xfrm>
          <a:prstGeom prst="rect">
            <a:avLst/>
          </a:prstGeom>
          <a:solidFill>
            <a:srgbClr val="E8F1FB"/>
          </a:solidFill>
          <a:ln cap="flat" cmpd="sng" w="12700">
            <a:solidFill>
              <a:srgbClr val="E8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457200" y="1600200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Skills Inventory Questions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02920" y="2057400"/>
            <a:ext cx="3749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What do you do for work?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What hobbies or sports do you or your family enjoy?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Do you have any special skills — cooking, crafts, music, tech?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Have you been in Scouting before? Any outdoor experience?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Are there topics you'd love to teach kids about?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How many hours per month could you contribute?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4754880" y="1600200"/>
            <a:ext cx="4023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Match Skills to Pack Needs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754880" y="2011680"/>
            <a:ext cx="91440" cy="36576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983480" y="201168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STEM &amp; Tech: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4983480" y="22128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Engineers, IT, science teachers → STEM Scouts activities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754880" y="2514600"/>
            <a:ext cx="91440" cy="36576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983480" y="251460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Outdoors &amp; Sports: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983480" y="271576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Hikers, campers, coaches → camping, nature badges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754880" y="3017520"/>
            <a:ext cx="91440" cy="36576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4983480" y="301752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Arts &amp; Creativity: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983480" y="321868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Artists, musicians, crafters → Blue &amp; Gold, skits, decorations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754880" y="3520440"/>
            <a:ext cx="91440" cy="36576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4983480" y="352044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Business &amp; Finance: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4983480" y="372160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Accountants, managers → treasurer, fundraising chair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4754880" y="4023360"/>
            <a:ext cx="91440" cy="36576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983480" y="402336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Health &amp; Safety: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983480" y="422452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Nurses, EMTs, fitness pros → First Aid, health education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754880" y="4526280"/>
            <a:ext cx="91440" cy="36576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983480" y="4526280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Community &amp; Service: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983480" y="4727448"/>
            <a:ext cx="3794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Social workers, faith leaders → service projects, citizenship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INCLUSION STRATEGIES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5" name="Google Shape;115;p5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Strategies for Building True Belonging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74320" y="150876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274320" y="1508760"/>
            <a:ext cx="2697480" cy="50292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365760" y="157276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Communication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384048" y="210312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Use multiple channels: text, email, app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Pair new families with a veteran "buddy"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Create a welcoming group chat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Share a "What to Expect" guide before meetings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Speak plainly — avoid jargon and acronyms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246120" y="150876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246120" y="1508760"/>
            <a:ext cx="2697480" cy="502920"/>
          </a:xfrm>
          <a:prstGeom prst="rect">
            <a:avLst/>
          </a:prstGeom>
          <a:solidFill>
            <a:srgbClr val="1A5CA8"/>
          </a:solidFill>
          <a:ln cap="flat" cmpd="sng" w="12700">
            <a:solidFill>
              <a:srgbClr val="1A5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337560" y="157276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Participation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3355848" y="210312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Invite opinions in committee meetings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Ask new parents to co-lead one activity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Create low-barrier entry roles first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Celebrate every contribution publicly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Let families shape the program calendar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17920" y="150876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217920" y="1508760"/>
            <a:ext cx="2697480" cy="502920"/>
          </a:xfrm>
          <a:prstGeom prst="rect">
            <a:avLst/>
          </a:prstGeom>
          <a:solidFill>
            <a:srgbClr val="C98A00"/>
          </a:solidFill>
          <a:ln cap="flat" cmpd="sng" w="12700">
            <a:solidFill>
              <a:srgbClr val="C9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6309360" y="1572768"/>
            <a:ext cx="2514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Belonging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327648" y="2103120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Learn every family's name quickly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Acknowledge cultural backgrounds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Ensure all families feel seen at events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Check in monthly with new families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Share how their involvement made a difference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VOLUNTEER ROLES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6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Matching People to Roles That Fit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65760" y="1371600"/>
            <a:ext cx="8412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Not everyone can commit to Den Leader — and that's okay. Show families the full menu of ways to contribute.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20040" y="192024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502920" y="19202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Den Leader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108960" y="19202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[High]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02920" y="214884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Runs den meetings, tracks advancement, attends pack committee.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320040" y="251460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02920" y="25146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Assistant Den Leader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3108960" y="251460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[Medium]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02920" y="274320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Supports den leader; great entry point for active parents.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320040" y="310896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502920" y="31089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Cubmaster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108960" y="310896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[High]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502920" y="333756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Emcees pack meetings, plans program with committee.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20040" y="370332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502920" y="37033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Pack Committee Chair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3108960" y="37033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[Medium]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502920" y="393192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Facilitates monthly committee meetings and leader recruitment.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320040" y="429768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502920" y="4297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Advancement Chair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108960" y="42976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[Low-Med]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02920" y="452628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Maintains records, orders badges, coordinates ceremonies.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663440" y="192024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846320" y="192024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Treasurer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7452360" y="192024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[Low-Med]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846320" y="214884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Manages pack finances — ideal for parents in finance or business.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663440" y="251460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846320" y="251460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Event Coordinator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7452360" y="251460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[Flexible]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846320" y="274320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Plans Pinewood Derby, Blue &amp; Gold, campouts — great for organizers.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663440" y="310896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4846320" y="31089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STEM / Activity Lead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7452360" y="310896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[One-time]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846320" y="333756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Teach one skill or run one activity. Your hobby could be an Adventure!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663440" y="370332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"/>
          <p:cNvSpPr/>
          <p:nvPr/>
        </p:nvSpPr>
        <p:spPr>
          <a:xfrm>
            <a:off x="4846320" y="37033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Fundraising Coord.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52360" y="37033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[Seasonal]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4846320" y="393192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Oversees popcorn sales, donations, financial assistance programs.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663440" y="4297680"/>
            <a:ext cx="73152" cy="47548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846320" y="429768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3F87"/>
                </a:solidFill>
                <a:latin typeface="Calibri"/>
                <a:ea typeface="Calibri"/>
                <a:cs typeface="Calibri"/>
                <a:sym typeface="Calibri"/>
              </a:rPr>
              <a:t>New Family Liaison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452360" y="429768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[Low]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846320" y="4526280"/>
            <a:ext cx="3429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557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45577"/>
                </a:solidFill>
                <a:latin typeface="Calibri"/>
                <a:ea typeface="Calibri"/>
                <a:cs typeface="Calibri"/>
                <a:sym typeface="Calibri"/>
              </a:rPr>
              <a:t>Welcomes new families, pairs them with buddies, checks in monthly.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ENGAGING PARTICIPATION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6" name="Google Shape;186;p7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7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Practical Tips for Pack Leaders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20040" y="1508760"/>
            <a:ext cx="402336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E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20040" y="1508760"/>
            <a:ext cx="4023360" cy="502920"/>
          </a:xfrm>
          <a:prstGeom prst="rect">
            <a:avLst/>
          </a:prstGeom>
          <a:solidFill>
            <a:srgbClr val="1A5CA8"/>
          </a:solidFill>
          <a:ln cap="flat" cmpd="sng" w="12700">
            <a:solidFill>
              <a:srgbClr val="1A5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411480" y="15819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Do This — It 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7200" y="2084832"/>
            <a:ext cx="37490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Ask "What do you love doing?" before "Can you help?"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Give small, specific asks — not a vague "we need help"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Publicly thank new volunteers at every pack meeting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Share how their contribution benefited the Scouts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Invite them to shadow current leaders before committing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Create "no pressure" pilot opportunities for involvement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4709160" y="1508760"/>
            <a:ext cx="4023360" cy="3291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CB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709160" y="1508760"/>
            <a:ext cx="4023360" cy="502920"/>
          </a:xfrm>
          <a:prstGeom prst="rect">
            <a:avLst/>
          </a:prstGeom>
          <a:solidFill>
            <a:srgbClr val="BE1E2D"/>
          </a:solidFill>
          <a:ln cap="flat" cmpd="sng" w="12700">
            <a:solidFill>
              <a:srgbClr val="BE1E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"/>
          <p:cNvSpPr/>
          <p:nvPr/>
        </p:nvSpPr>
        <p:spPr>
          <a:xfrm>
            <a:off x="4800600" y="1581912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Avoid These Mistakes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4846320" y="2084832"/>
            <a:ext cx="37490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Dumping all information at once in the first meeting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Assigning roles based on availability, not interest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Only contacting families when you need something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Treating all families as identical in their capacity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Letting new parents fade into the background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Forgetting to close the loop — always share the impact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LION &amp; TIGER DENS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8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Your Built-In Family Engagement Model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320040" y="1463040"/>
            <a:ext cx="8503920" cy="914400"/>
          </a:xfrm>
          <a:prstGeom prst="rect">
            <a:avLst/>
          </a:prstGeom>
          <a:solidFill>
            <a:srgbClr val="E8F1FB"/>
          </a:solidFill>
          <a:ln cap="flat" cmpd="sng" w="12700">
            <a:solidFill>
              <a:srgbClr val="E8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320040" y="1463040"/>
            <a:ext cx="91440" cy="91440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548640" y="1536192"/>
            <a:ext cx="81381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Lion and Tiger Dens require an Adult Partner — turning every new parent into an active co-leader from day one.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This shared leadership model is the best onramp for new family engagement in the entire Cub Scout program.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0040" y="2514600"/>
            <a:ext cx="4023360" cy="23317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D5E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320040" y="2514600"/>
            <a:ext cx="4023360" cy="411480"/>
          </a:xfrm>
          <a:prstGeom prst="rect">
            <a:avLst/>
          </a:prstGeom>
          <a:solidFill>
            <a:srgbClr val="1A5CA8"/>
          </a:solidFill>
          <a:ln cap="flat" cmpd="sng" w="12700">
            <a:solidFill>
              <a:srgbClr val="1A5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411480" y="257860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How It Works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457200" y="2999232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Den size: up to 8 Scouts + adult partners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Adult partners take turns assisting the Den Leader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Each family contributes in a structured rotating role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No family feels burdened — load is shared equally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4754880" y="2514600"/>
            <a:ext cx="4023360" cy="2331720"/>
          </a:xfrm>
          <a:prstGeom prst="rect">
            <a:avLst/>
          </a:prstGeom>
          <a:solidFill>
            <a:srgbClr val="F4F6FA"/>
          </a:solidFill>
          <a:ln cap="flat" cmpd="sng" w="12700">
            <a:solidFill>
              <a:srgbClr val="FFE9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4754880" y="2514600"/>
            <a:ext cx="4023360" cy="411480"/>
          </a:xfrm>
          <a:prstGeom prst="rect">
            <a:avLst/>
          </a:prstGeom>
          <a:solidFill>
            <a:srgbClr val="C98A00"/>
          </a:solidFill>
          <a:ln cap="flat" cmpd="sng" w="12700">
            <a:solidFill>
              <a:srgbClr val="C9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4846320" y="257860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Leader Opportunity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892040" y="2999232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Every family who hosts a meeting discovers they CAN lead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Natural pathway to identify future Den Leaders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Family skills become meeting content — cooking, crafts, science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New parents quickly feel like insiders, not outsiders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F8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3" name="Google Shape;223;p9"/>
          <p:cNvPicPr preferRelativeResize="0"/>
          <p:nvPr/>
        </p:nvPicPr>
        <p:blipFill rotWithShape="1">
          <a:blip r:embed="rId3">
            <a:alphaModFix amt="12000"/>
          </a:blip>
          <a:srcRect b="0" l="0" r="0" t="0"/>
          <a:stretch/>
        </p:blipFill>
        <p:spPr>
          <a:xfrm>
            <a:off x="3657600" y="1645920"/>
            <a:ext cx="1828800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9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REAL VOICES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What New Volunteers Discover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20040" y="1371600"/>
            <a:ext cx="2697480" cy="3337560"/>
          </a:xfrm>
          <a:prstGeom prst="rect">
            <a:avLst/>
          </a:prstGeom>
          <a:solidFill>
            <a:srgbClr val="1A5CA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9"/>
          <p:cNvSpPr/>
          <p:nvPr/>
        </p:nvSpPr>
        <p:spPr>
          <a:xfrm>
            <a:off x="320040" y="1371600"/>
            <a:ext cx="2697480" cy="7315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41148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457200" y="19202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"When I first got into Scouting, it was because of my child. What I didn't realize was what a great program Scouting has been for me. I have met so many great people and made some great friends."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457200" y="43891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DB827"/>
                </a:solidFill>
                <a:latin typeface="Calibri"/>
                <a:ea typeface="Calibri"/>
                <a:cs typeface="Calibri"/>
                <a:sym typeface="Calibri"/>
              </a:rPr>
              <a:t>— Pack Volunteer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3200400" y="1371600"/>
            <a:ext cx="2697480" cy="3337560"/>
          </a:xfrm>
          <a:prstGeom prst="rect">
            <a:avLst/>
          </a:prstGeom>
          <a:solidFill>
            <a:srgbClr val="1A5CA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3200400" y="1371600"/>
            <a:ext cx="2697480" cy="7315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329184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3337560" y="19202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"I figured treasurer would be a small way I could contribute. I was surprised to find that even my office skills were needed. Everyone really appreciates what I do."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3337560" y="43891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DB827"/>
                </a:solidFill>
                <a:latin typeface="Calibri"/>
                <a:ea typeface="Calibri"/>
                <a:cs typeface="Calibri"/>
                <a:sym typeface="Calibri"/>
              </a:rPr>
              <a:t>— Pack Treasurer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6080760" y="1371600"/>
            <a:ext cx="2697480" cy="3337560"/>
          </a:xfrm>
          <a:prstGeom prst="rect">
            <a:avLst/>
          </a:prstGeom>
          <a:solidFill>
            <a:srgbClr val="1A5CA8"/>
          </a:solidFill>
          <a:ln>
            <a:noFill/>
          </a:ln>
          <a:effectLst>
            <a:outerShdw blurRad="101600" rotWithShape="0" algn="bl" dir="8100000" dist="38100">
              <a:srgbClr val="000000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6080760" y="1371600"/>
            <a:ext cx="2697480" cy="7315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6172200" y="1417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“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6217920" y="1920240"/>
            <a:ext cx="242316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"As a merit badge counselor, I could meet with Scouts whenever it was convenient for me. I get to share my hobby with these great youth — on my own schedule."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6217920" y="4389120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DB827"/>
                </a:solidFill>
                <a:latin typeface="Calibri"/>
                <a:ea typeface="Calibri"/>
                <a:cs typeface="Calibri"/>
                <a:sym typeface="Calibri"/>
              </a:rPr>
              <a:t>— Merit Badge Counselor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CREATIVE PROGRAM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8" name="Google Shape;248;p10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0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Using Family Skills to Elevate Your Program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274320" y="1508760"/>
            <a:ext cx="26974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274320" y="1508760"/>
            <a:ext cx="64008" cy="132588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0"/>
          <p:cNvSpPr/>
          <p:nvPr/>
        </p:nvSpPr>
        <p:spPr>
          <a:xfrm>
            <a:off x="457200" y="161848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A parent is a chef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457200" y="198424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Outdoor cooking Adventure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that wows every Scout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246120" y="1508760"/>
            <a:ext cx="26974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3246120" y="1508760"/>
            <a:ext cx="64008" cy="132588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3429000" y="161848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A parent is an engineer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429000" y="198424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STEM night with real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hands-on builds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6217920" y="1508760"/>
            <a:ext cx="26974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6217920" y="1508760"/>
            <a:ext cx="64008" cy="132588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6400800" y="161848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A parent is a musician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6400800" y="198424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Pack meeting songs 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Blue &amp; Gold entertainment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274320" y="3017520"/>
            <a:ext cx="26974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274320" y="3017520"/>
            <a:ext cx="64008" cy="132588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457200" y="31272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A parent is a veteran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457200" y="349300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Flag ceremony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and Citizenship focus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3246120" y="3017520"/>
            <a:ext cx="26974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0"/>
          <p:cNvSpPr/>
          <p:nvPr/>
        </p:nvSpPr>
        <p:spPr>
          <a:xfrm>
            <a:off x="3246120" y="3017520"/>
            <a:ext cx="64008" cy="132588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429000" y="31272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A parent is an artist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3429000" y="349300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Pinewood Derby design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workshop for all Scouts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6217920" y="3017520"/>
            <a:ext cx="2697480" cy="13258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"/>
          <p:cNvSpPr/>
          <p:nvPr/>
        </p:nvSpPr>
        <p:spPr>
          <a:xfrm>
            <a:off x="6217920" y="3017520"/>
            <a:ext cx="64008" cy="1325880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6400800" y="3127248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5C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5CA8"/>
                </a:solidFill>
                <a:latin typeface="Calibri"/>
                <a:ea typeface="Calibri"/>
                <a:cs typeface="Calibri"/>
                <a:sym typeface="Calibri"/>
              </a:rPr>
              <a:t>A parent is an EMT 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400800" y="349300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First Aid Adventure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taught by a real pro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SAFETY &amp; TRAINING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11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1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700"/>
              <a:buFont typeface="Trebuchet MS"/>
              <a:buNone/>
            </a:pPr>
            <a:r>
              <a:rPr b="1" i="0" lang="en-US" sz="27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Equipping New Families to Participate Safely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320040" y="1463040"/>
            <a:ext cx="4114800" cy="3246120"/>
          </a:xfrm>
          <a:prstGeom prst="rect">
            <a:avLst/>
          </a:prstGeom>
          <a:solidFill>
            <a:srgbClr val="E8F1FB"/>
          </a:solidFill>
          <a:ln cap="flat" cmpd="sng" w="12700">
            <a:solidFill>
              <a:srgbClr val="E8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320040" y="1463040"/>
            <a:ext cx="4114800" cy="50292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11480" y="153619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Youth Protection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457200" y="2057400"/>
            <a:ext cx="384048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Required every 2 years for all registered leaders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Strongly encouraged for ALL participating parents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Completed online at my.Scouting.org (~40 min)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Two-deep leadership: never one adult alone with youth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No one-on-one contact policy protects everyone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New families APPRECIATE knowing these standards exist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754880" y="1463040"/>
            <a:ext cx="4114800" cy="324612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F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/>
          <p:nvPr/>
        </p:nvSpPr>
        <p:spPr>
          <a:xfrm>
            <a:off x="4754880" y="1463040"/>
            <a:ext cx="4114800" cy="502920"/>
          </a:xfrm>
          <a:prstGeom prst="rect">
            <a:avLst/>
          </a:prstGeom>
          <a:solidFill>
            <a:srgbClr val="C98A00"/>
          </a:solidFill>
          <a:ln cap="flat" cmpd="sng" w="12700">
            <a:solidFill>
              <a:srgbClr val="C9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4846320" y="1536192"/>
            <a:ext cx="39319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for New Volunteers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892040" y="2057400"/>
            <a:ext cx="384048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Position-specific training at my.Scouting.org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Online, self-paced — fits any schedule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In-person training available through your council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Training builds confidence and retention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Trained leaders deliver better programs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Connect new families with training early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ONBOARDING PLAN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2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Your 30/60/90-Day New Family Onboarding Plan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2"/>
          <p:cNvSpPr/>
          <p:nvPr/>
        </p:nvSpPr>
        <p:spPr>
          <a:xfrm>
            <a:off x="274320" y="150876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274320" y="1508760"/>
            <a:ext cx="2697480" cy="68580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2"/>
          <p:cNvSpPr/>
          <p:nvPr/>
        </p:nvSpPr>
        <p:spPr>
          <a:xfrm>
            <a:off x="365760" y="155448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Day 1–30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2"/>
          <p:cNvSpPr/>
          <p:nvPr/>
        </p:nvSpPr>
        <p:spPr>
          <a:xfrm>
            <a:off x="365760" y="182880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Welcome &amp; Discover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384048" y="2286000"/>
            <a:ext cx="246888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Personal welcome from a current family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Skills inventory conversation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Buddy family assignment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Youth Protection training reminder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Share the pack calendar + next steps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3246120" y="150876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2"/>
          <p:cNvSpPr/>
          <p:nvPr/>
        </p:nvSpPr>
        <p:spPr>
          <a:xfrm>
            <a:off x="3246120" y="1508760"/>
            <a:ext cx="2697480" cy="685800"/>
          </a:xfrm>
          <a:prstGeom prst="rect">
            <a:avLst/>
          </a:prstGeom>
          <a:solidFill>
            <a:srgbClr val="1A5CA8"/>
          </a:solidFill>
          <a:ln cap="flat" cmpd="sng" w="12700">
            <a:solidFill>
              <a:srgbClr val="1A5C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3337560" y="155448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Day 31–60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2"/>
          <p:cNvSpPr/>
          <p:nvPr/>
        </p:nvSpPr>
        <p:spPr>
          <a:xfrm>
            <a:off x="3337560" y="182880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Engage &amp; Participate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2"/>
          <p:cNvSpPr/>
          <p:nvPr/>
        </p:nvSpPr>
        <p:spPr>
          <a:xfrm>
            <a:off x="3355848" y="2286000"/>
            <a:ext cx="246888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Assign first specific, skill-matched role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Invite to shadow a den meeting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Include in one pack event planning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Recognize contribution at pack meeting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Check in: How is it going?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2"/>
          <p:cNvSpPr/>
          <p:nvPr/>
        </p:nvSpPr>
        <p:spPr>
          <a:xfrm>
            <a:off x="6217920" y="1508760"/>
            <a:ext cx="2697480" cy="32918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25400">
              <a:srgbClr val="000000">
                <a:alpha val="901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2"/>
          <p:cNvSpPr/>
          <p:nvPr/>
        </p:nvSpPr>
        <p:spPr>
          <a:xfrm>
            <a:off x="6217920" y="1508760"/>
            <a:ext cx="2697480" cy="685800"/>
          </a:xfrm>
          <a:prstGeom prst="rect">
            <a:avLst/>
          </a:prstGeom>
          <a:solidFill>
            <a:srgbClr val="C98A00"/>
          </a:solidFill>
          <a:ln cap="flat" cmpd="sng" w="12700">
            <a:solidFill>
              <a:srgbClr val="C98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2"/>
          <p:cNvSpPr/>
          <p:nvPr/>
        </p:nvSpPr>
        <p:spPr>
          <a:xfrm>
            <a:off x="6309360" y="155448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Day 61–90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309360" y="1828800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Belong &amp; Lead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6327648" y="2286000"/>
            <a:ext cx="2468880" cy="2423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Offer position-specific training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Connect with pack committee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Lead or co-lead one activity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Share impact of their involvement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Ask: What else would you like to do?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F87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3"/>
          <p:cNvSpPr/>
          <p:nvPr/>
        </p:nvSpPr>
        <p:spPr>
          <a:xfrm>
            <a:off x="0" y="4965192"/>
            <a:ext cx="9144000" cy="16459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"/>
          <p:cNvSpPr/>
          <p:nvPr/>
        </p:nvSpPr>
        <p:spPr>
          <a:xfrm>
            <a:off x="0" y="3639312"/>
            <a:ext cx="9144000" cy="128016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3" name="Google Shape;32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74320"/>
            <a:ext cx="1280160" cy="128016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13"/>
          <p:cNvSpPr/>
          <p:nvPr/>
        </p:nvSpPr>
        <p:spPr>
          <a:xfrm>
            <a:off x="1920240" y="256032"/>
            <a:ext cx="6858000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Pack That Grows Together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1920240" y="1078992"/>
            <a:ext cx="3657600" cy="64008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3"/>
          <p:cNvSpPr/>
          <p:nvPr/>
        </p:nvSpPr>
        <p:spPr>
          <a:xfrm>
            <a:off x="1920240" y="1207008"/>
            <a:ext cx="6858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D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ABDDD"/>
                </a:solidFill>
                <a:latin typeface="Calibri"/>
                <a:ea typeface="Calibri"/>
                <a:cs typeface="Calibri"/>
                <a:sym typeface="Calibri"/>
              </a:rPr>
              <a:t>When new families are truly welcomed, their skills discovered,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DDD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AABDDD"/>
                </a:solidFill>
                <a:latin typeface="Calibri"/>
                <a:ea typeface="Calibri"/>
                <a:cs typeface="Calibri"/>
                <a:sym typeface="Calibri"/>
              </a:rPr>
              <a:t>and their contributions celebrated — everyone wins.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365760" y="2103120"/>
            <a:ext cx="2606040" cy="1417320"/>
          </a:xfrm>
          <a:prstGeom prst="rect">
            <a:avLst/>
          </a:prstGeom>
          <a:solidFill>
            <a:srgbClr val="1A5CA8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3"/>
          <p:cNvSpPr/>
          <p:nvPr/>
        </p:nvSpPr>
        <p:spPr>
          <a:xfrm>
            <a:off x="365760" y="2103120"/>
            <a:ext cx="2606040" cy="7315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"/>
          <p:cNvSpPr/>
          <p:nvPr/>
        </p:nvSpPr>
        <p:spPr>
          <a:xfrm>
            <a:off x="457200" y="2194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ENGAGE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502920" y="257860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Meet families where they are. Ask, listen, and connect before asking for help.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3246120" y="2103120"/>
            <a:ext cx="2606040" cy="1417320"/>
          </a:xfrm>
          <a:prstGeom prst="rect">
            <a:avLst/>
          </a:prstGeom>
          <a:solidFill>
            <a:srgbClr val="1A5CA8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3"/>
          <p:cNvSpPr/>
          <p:nvPr/>
        </p:nvSpPr>
        <p:spPr>
          <a:xfrm>
            <a:off x="3246120" y="2103120"/>
            <a:ext cx="2606040" cy="7315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3"/>
          <p:cNvSpPr/>
          <p:nvPr/>
        </p:nvSpPr>
        <p:spPr>
          <a:xfrm>
            <a:off x="3337560" y="2194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INCLUDE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3383280" y="257860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real roles — not just spectators. Every family has something to give.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6126480" y="2103120"/>
            <a:ext cx="2606040" cy="1417320"/>
          </a:xfrm>
          <a:prstGeom prst="rect">
            <a:avLst/>
          </a:prstGeom>
          <a:solidFill>
            <a:srgbClr val="1A5CA8"/>
          </a:solidFill>
          <a:ln>
            <a:noFill/>
          </a:ln>
          <a:effectLst>
            <a:outerShdw blurRad="1016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3"/>
          <p:cNvSpPr/>
          <p:nvPr/>
        </p:nvSpPr>
        <p:spPr>
          <a:xfrm>
            <a:off x="6126480" y="2103120"/>
            <a:ext cx="2606040" cy="73152"/>
          </a:xfrm>
          <a:prstGeom prst="rect">
            <a:avLst/>
          </a:prstGeom>
          <a:solidFill>
            <a:srgbClr val="FDB827"/>
          </a:solidFill>
          <a:ln cap="flat" cmpd="sng" w="12700">
            <a:solidFill>
              <a:srgbClr val="FDB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217920" y="219456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700"/>
              <a:buFont typeface="Trebuchet MS"/>
              <a:buNone/>
            </a:pPr>
            <a:r>
              <a:rPr b="1" i="0" lang="en-US" sz="17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EMPOWER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6263640" y="2578608"/>
            <a:ext cx="2331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 skills to needs. Let new families shape the program. Share the impact.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03F87"/>
          </a:solidFill>
          <a:ln cap="flat" cmpd="sng" w="12700">
            <a:solidFill>
              <a:srgbClr val="003F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4"/>
          <p:cNvSpPr/>
          <p:nvPr/>
        </p:nvSpPr>
        <p:spPr>
          <a:xfrm>
            <a:off x="365760" y="73152"/>
            <a:ext cx="7772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DB827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rgbClr val="FDB827"/>
                </a:solidFill>
                <a:latin typeface="Trebuchet MS"/>
                <a:ea typeface="Trebuchet MS"/>
                <a:cs typeface="Trebuchet MS"/>
                <a:sym typeface="Trebuchet MS"/>
              </a:rPr>
              <a:t>RESOURCES &amp; NEXT STEPS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6" name="Google Shape;346;p14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8503920" y="36576"/>
            <a:ext cx="502920" cy="530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4"/>
          <p:cNvSpPr/>
          <p:nvPr/>
        </p:nvSpPr>
        <p:spPr>
          <a:xfrm>
            <a:off x="365760" y="731520"/>
            <a:ext cx="8412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Tools for Engaging New Families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/>
          <p:nvPr/>
        </p:nvSpPr>
        <p:spPr>
          <a:xfrm>
            <a:off x="320040" y="1463040"/>
            <a:ext cx="4023360" cy="3246120"/>
          </a:xfrm>
          <a:prstGeom prst="rect">
            <a:avLst/>
          </a:prstGeom>
          <a:solidFill>
            <a:srgbClr val="E8F1FB"/>
          </a:solidFill>
          <a:ln cap="flat" cmpd="sng" w="12700">
            <a:solidFill>
              <a:srgbClr val="E8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4"/>
          <p:cNvSpPr/>
          <p:nvPr/>
        </p:nvSpPr>
        <p:spPr>
          <a:xfrm>
            <a:off x="457200" y="1554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3F87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003F87"/>
                </a:solidFill>
                <a:latin typeface="Trebuchet MS"/>
                <a:ea typeface="Trebuchet MS"/>
                <a:cs typeface="Trebuchet MS"/>
                <a:sym typeface="Trebuchet MS"/>
              </a:rPr>
              <a:t>Official Resources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4"/>
          <p:cNvSpPr/>
          <p:nvPr/>
        </p:nvSpPr>
        <p:spPr>
          <a:xfrm>
            <a:off x="457200" y="1993392"/>
            <a:ext cx="37490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my.Scouting.org — Training, records, registration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Scoutbook.scouting.org — Advancement 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scouting.org/training — All volunteer training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scouting.org/training/youth-protection — </a:t>
            </a:r>
            <a:r>
              <a:rPr lang="en-US" sz="13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SYT</a:t>
            </a: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 info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Scouting App (iOS/Android) — Communication 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Welcome to Cub Scouting Family Guide (official BSA)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/>
          <p:nvPr/>
        </p:nvSpPr>
        <p:spPr>
          <a:xfrm>
            <a:off x="4754880" y="1463040"/>
            <a:ext cx="4023360" cy="3246120"/>
          </a:xfrm>
          <a:prstGeom prst="rect">
            <a:avLst/>
          </a:prstGeom>
          <a:solidFill>
            <a:srgbClr val="FFF8E1"/>
          </a:solidFill>
          <a:ln cap="flat" cmpd="sng" w="12700">
            <a:solidFill>
              <a:srgbClr val="FFF8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4"/>
          <p:cNvSpPr/>
          <p:nvPr/>
        </p:nvSpPr>
        <p:spPr>
          <a:xfrm>
            <a:off x="4892040" y="155448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8A00"/>
              </a:buClr>
              <a:buSzPts val="1500"/>
              <a:buFont typeface="Trebuchet MS"/>
              <a:buNone/>
            </a:pPr>
            <a:r>
              <a:rPr b="1" i="0" lang="en-US" sz="1500" u="none" cap="none" strike="noStrike">
                <a:solidFill>
                  <a:srgbClr val="C98A00"/>
                </a:solidFill>
                <a:latin typeface="Trebuchet MS"/>
                <a:ea typeface="Trebuchet MS"/>
                <a:cs typeface="Trebuchet MS"/>
                <a:sym typeface="Trebuchet MS"/>
              </a:rPr>
              <a:t>Take Action This Week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4"/>
          <p:cNvSpPr/>
          <p:nvPr/>
        </p:nvSpPr>
        <p:spPr>
          <a:xfrm>
            <a:off x="4892040" y="1993392"/>
            <a:ext cx="3749040" cy="2606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Create or update a Skills Inventory form for new families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Identify one current parent to serve as New Family Liaison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Review your current volunteer roster for gaps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Audit your next 3 pack meetings for family involvement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Send a personal welcome to your most recently joined families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2026-03-21T01:09:29Z</dcterms:created>
  <dc:creator>PptxGenJS</dc:creator>
</cp:coreProperties>
</file>